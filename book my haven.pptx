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8" r:id="rId3"/>
    <p:sldId id="259" r:id="rId4"/>
    <p:sldId id="261" r:id="rId5"/>
    <p:sldId id="262" r:id="rId6"/>
    <p:sldId id="263" r:id="rId7"/>
    <p:sldId id="264" r:id="rId8"/>
    <p:sldId id="265" r:id="rId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hTNTX5De3Me30PXYyhjakiUy17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1320"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26"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28"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 name="Google Shape;4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0"/>
        <p:cNvGrpSpPr/>
        <p:nvPr/>
      </p:nvGrpSpPr>
      <p:grpSpPr>
        <a:xfrm>
          <a:off x="0" y="0"/>
          <a:ext cx="0" cy="0"/>
          <a:chOff x="0" y="0"/>
          <a:chExt cx="0" cy="0"/>
        </a:xfrm>
      </p:grpSpPr>
      <p:sp>
        <p:nvSpPr>
          <p:cNvPr id="41" name="Google Shape;41;p24"/>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3200" b="1">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 name="Google Shape;42;p24"/>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43" name="Google Shape;43;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2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rgbClr val="0070C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1" i="0" u="none" strike="noStrike" cap="none">
                <a:solidFill>
                  <a:srgbClr val="0070C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IN"/>
              <a:t>‹#›</a:t>
            </a:fld>
            <a:endParaRPr/>
          </a:p>
        </p:txBody>
      </p:sp>
      <p:sp>
        <p:nvSpPr>
          <p:cNvPr id="15" name="Google Shape;15;p21"/>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21"/>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21"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8" name="Google Shape;18;p21"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9" name="Google Shape;19;p21"/>
          <p:cNvGrpSpPr/>
          <p:nvPr/>
        </p:nvGrpSpPr>
        <p:grpSpPr>
          <a:xfrm>
            <a:off x="6146800" y="0"/>
            <a:ext cx="2997200" cy="876300"/>
            <a:chOff x="6096000" y="3924300"/>
            <a:chExt cx="2997200" cy="876300"/>
          </a:xfrm>
        </p:grpSpPr>
        <p:sp>
          <p:nvSpPr>
            <p:cNvPr id="20" name="Google Shape;20;p2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21"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2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3" name="Google Shape;23;p21"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1" r:id="rId2"/>
  </p:sldLayoutIdLst>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developer.mozilla.org/" TargetMode="External"/><Relationship Id="rId3" Type="http://schemas.openxmlformats.org/officeDocument/2006/relationships/hyperlink" Target="https://nodejs.org/" TargetMode="External"/><Relationship Id="rId7" Type="http://schemas.openxmlformats.org/officeDocument/2006/relationships/hyperlink" Target="https://docs.github.com/" TargetMode="External"/><Relationship Id="rId2" Type="http://schemas.openxmlformats.org/officeDocument/2006/relationships/hyperlink" Target="https://react.dev/" TargetMode="External"/><Relationship Id="rId1" Type="http://schemas.openxmlformats.org/officeDocument/2006/relationships/slideLayout" Target="../slideLayouts/slideLayout2.xml"/><Relationship Id="rId6" Type="http://schemas.openxmlformats.org/officeDocument/2006/relationships/hyperlink" Target="https://tailwindcss.com/" TargetMode="External"/><Relationship Id="rId11" Type="http://schemas.openxmlformats.org/officeDocument/2006/relationships/hyperlink" Target="https://fonts.google.com/" TargetMode="External"/><Relationship Id="rId5" Type="http://schemas.openxmlformats.org/officeDocument/2006/relationships/hyperlink" Target="https://www.mongodb.com/" TargetMode="External"/><Relationship Id="rId10" Type="http://schemas.openxmlformats.org/officeDocument/2006/relationships/hyperlink" Target="https://vitejs.dev/" TargetMode="External"/><Relationship Id="rId4" Type="http://schemas.openxmlformats.org/officeDocument/2006/relationships/hyperlink" Target="https://expressjs.com/" TargetMode="External"/><Relationship Id="rId9" Type="http://schemas.openxmlformats.org/officeDocument/2006/relationships/hyperlink" Target="https://www.w3school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1" name="Google Shape;51;p1"/>
          <p:cNvSpPr txBox="1"/>
          <p:nvPr/>
        </p:nvSpPr>
        <p:spPr>
          <a:xfrm>
            <a:off x="611560" y="1124744"/>
            <a:ext cx="7632900" cy="4329350"/>
          </a:xfrm>
          <a:prstGeom prst="rect">
            <a:avLst/>
          </a:prstGeom>
          <a:noFill/>
          <a:ln>
            <a:noFill/>
          </a:ln>
        </p:spPr>
        <p:txBody>
          <a:bodyPr spcFirstLastPara="1" wrap="square" lIns="91425" tIns="45700" rIns="91425" bIns="45700" anchor="t" anchorCtr="0">
            <a:spAutoFit/>
          </a:bodyPr>
          <a:lstStyle/>
          <a:p>
            <a:pPr lvl="0" algn="ctr">
              <a:buSzPts val="1800"/>
            </a:pPr>
            <a:r>
              <a:rPr lang="en-IN" sz="1800" b="1" i="0" u="none" strike="noStrike" cap="none" dirty="0">
                <a:solidFill>
                  <a:schemeClr val="dk1"/>
                </a:solidFill>
                <a:latin typeface="Times New Roman"/>
                <a:ea typeface="Times New Roman"/>
                <a:cs typeface="Times New Roman"/>
                <a:sym typeface="Times New Roman"/>
              </a:rPr>
              <a:t>Presentation </a:t>
            </a:r>
            <a:r>
              <a:rPr lang="en-IN" sz="1800" b="1" dirty="0">
                <a:solidFill>
                  <a:schemeClr val="dk1"/>
                </a:solidFill>
                <a:latin typeface="Times New Roman"/>
                <a:ea typeface="Times New Roman"/>
                <a:cs typeface="Times New Roman"/>
                <a:sym typeface="Times New Roman"/>
              </a:rPr>
              <a:t>on</a:t>
            </a:r>
            <a:r>
              <a:rPr lang="en-IN" sz="1800" b="1" i="0" u="none" strike="noStrike" cap="none" dirty="0">
                <a:solidFill>
                  <a:schemeClr val="dk1"/>
                </a:solidFill>
                <a:latin typeface="Times New Roman"/>
                <a:ea typeface="Times New Roman"/>
                <a:cs typeface="Times New Roman"/>
                <a:sym typeface="Times New Roman"/>
              </a:rPr>
              <a:t> IOHE</a:t>
            </a:r>
            <a:r>
              <a:rPr lang="en-IN" sz="1800" b="1" i="0" u="none" strike="noStrike" cap="none" dirty="0">
                <a:solidFill>
                  <a:srgbClr val="000000"/>
                </a:solidFill>
                <a:latin typeface="Times New Roman"/>
                <a:ea typeface="Times New Roman"/>
                <a:cs typeface="Times New Roman"/>
                <a:sym typeface="Times New Roman"/>
              </a:rPr>
              <a:t>(</a:t>
            </a:r>
            <a:r>
              <a:rPr lang="en-US" sz="1800" b="1" dirty="0">
                <a:effectLst/>
                <a:latin typeface="Times New Roman" panose="02020603050405020304" pitchFamily="18" charset="0"/>
                <a:ea typeface="Georgia" panose="02040502050405020303" pitchFamily="18" charset="0"/>
                <a:cs typeface="Georgia" panose="02040502050405020303" pitchFamily="18" charset="0"/>
              </a:rPr>
              <a:t>22CS422</a:t>
            </a:r>
            <a:r>
              <a:rPr lang="en-IN" sz="1800" b="1" i="0" u="none" strike="noStrike" cap="none" dirty="0">
                <a:solidFill>
                  <a:srgbClr val="000000"/>
                </a:solidFill>
                <a:latin typeface="Times New Roman"/>
                <a:ea typeface="Times New Roman"/>
                <a:cs typeface="Times New Roman"/>
                <a:sym typeface="Times New Roman"/>
              </a:rPr>
              <a:t>)</a:t>
            </a:r>
          </a:p>
          <a:p>
            <a:pPr marL="0" marR="0" lvl="0" indent="0" algn="ctr" rtl="0">
              <a:lnSpc>
                <a:spcPct val="100000"/>
              </a:lnSpc>
              <a:spcBef>
                <a:spcPts val="0"/>
              </a:spcBef>
              <a:spcAft>
                <a:spcPts val="0"/>
              </a:spcAft>
              <a:buClr>
                <a:srgbClr val="000000"/>
              </a:buClr>
              <a:buSzPts val="1800"/>
              <a:buFont typeface="Arial"/>
              <a:buNone/>
            </a:pPr>
            <a:r>
              <a:rPr lang="en-US" sz="1800" dirty="0">
                <a:solidFill>
                  <a:schemeClr val="dk1"/>
                </a:solidFill>
                <a:latin typeface="Times New Roman"/>
                <a:ea typeface="Times New Roman"/>
                <a:cs typeface="Times New Roman"/>
                <a:sym typeface="Times New Roman"/>
              </a:rPr>
              <a:t>on</a:t>
            </a:r>
            <a:endParaRPr sz="180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4400"/>
              <a:buFont typeface="Arial"/>
              <a:buNone/>
            </a:pPr>
            <a:r>
              <a:rPr lang="en-IN" sz="2000" dirty="0" err="1">
                <a:solidFill>
                  <a:schemeClr val="dk1"/>
                </a:solidFill>
                <a:latin typeface="Times New Roman"/>
                <a:ea typeface="Times New Roman"/>
                <a:cs typeface="Times New Roman"/>
                <a:sym typeface="Times New Roman"/>
              </a:rPr>
              <a:t>BookMyHaven</a:t>
            </a:r>
            <a:endParaRPr lang="en-IN" sz="2000"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4400"/>
              <a:buFont typeface="Arial"/>
              <a:buNone/>
            </a:pPr>
            <a:r>
              <a:rPr lang="en-IN" sz="2000" dirty="0">
                <a:solidFill>
                  <a:schemeClr val="dk1"/>
                </a:solidFill>
                <a:latin typeface="Times New Roman"/>
                <a:ea typeface="Times New Roman"/>
                <a:cs typeface="Times New Roman"/>
                <a:sym typeface="Times New Roman"/>
              </a:rPr>
              <a:t>by</a:t>
            </a:r>
            <a:endParaRPr lang="en-IN" sz="18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1800"/>
              <a:buFont typeface="Arial"/>
              <a:buNone/>
            </a:pPr>
            <a:r>
              <a:rPr lang="en-US" sz="1800" b="0" i="0" u="none" strike="noStrike" cap="none" dirty="0">
                <a:solidFill>
                  <a:srgbClr val="000000"/>
                </a:solidFill>
                <a:latin typeface="Times New Roman"/>
                <a:ea typeface="Times New Roman"/>
                <a:cs typeface="Times New Roman"/>
                <a:sym typeface="Times New Roman"/>
              </a:rPr>
              <a:t>Lakshya </a:t>
            </a:r>
            <a:r>
              <a:rPr lang="en-US" sz="1800" dirty="0">
                <a:latin typeface="Times New Roman"/>
                <a:ea typeface="Times New Roman"/>
                <a:cs typeface="Times New Roman"/>
                <a:sym typeface="Times New Roman"/>
              </a:rPr>
              <a:t>puri(2210991845)</a:t>
            </a:r>
          </a:p>
          <a:p>
            <a:pPr marL="0" marR="0" lvl="0" indent="0" algn="ctr" rtl="0">
              <a:lnSpc>
                <a:spcPct val="100000"/>
              </a:lnSpc>
              <a:spcBef>
                <a:spcPts val="400"/>
              </a:spcBef>
              <a:spcAft>
                <a:spcPts val="0"/>
              </a:spcAft>
              <a:buClr>
                <a:srgbClr val="000000"/>
              </a:buClr>
              <a:buSzPts val="1800"/>
              <a:buFont typeface="Arial"/>
              <a:buNone/>
            </a:pPr>
            <a:r>
              <a:rPr lang="en-US" sz="1800" dirty="0">
                <a:latin typeface="Times New Roman"/>
                <a:ea typeface="Times New Roman"/>
                <a:cs typeface="Times New Roman"/>
                <a:sym typeface="Times New Roman"/>
              </a:rPr>
              <a:t>Lokesh(2210991855)</a:t>
            </a:r>
          </a:p>
          <a:p>
            <a:pPr marL="0" marR="0" lvl="0" indent="0" algn="ctr" rtl="0">
              <a:lnSpc>
                <a:spcPct val="100000"/>
              </a:lnSpc>
              <a:spcBef>
                <a:spcPts val="400"/>
              </a:spcBef>
              <a:spcAft>
                <a:spcPts val="0"/>
              </a:spcAft>
              <a:buClr>
                <a:srgbClr val="000000"/>
              </a:buClr>
              <a:buSzPts val="1800"/>
              <a:buFont typeface="Arial"/>
              <a:buNone/>
            </a:pPr>
            <a:r>
              <a:rPr lang="en-US" sz="1800" dirty="0">
                <a:latin typeface="Times New Roman"/>
                <a:ea typeface="Times New Roman"/>
                <a:cs typeface="Times New Roman"/>
                <a:sym typeface="Times New Roman"/>
              </a:rPr>
              <a:t>Makul Malhotra(2210991867)</a:t>
            </a:r>
          </a:p>
          <a:p>
            <a:pPr marL="0" marR="0" lvl="0" indent="0" algn="ctr" rtl="0">
              <a:lnSpc>
                <a:spcPct val="100000"/>
              </a:lnSpc>
              <a:spcBef>
                <a:spcPts val="400"/>
              </a:spcBef>
              <a:spcAft>
                <a:spcPts val="0"/>
              </a:spcAft>
              <a:buClr>
                <a:srgbClr val="000000"/>
              </a:buClr>
              <a:buSzPts val="1800"/>
              <a:buFont typeface="Arial"/>
              <a:buNone/>
            </a:pPr>
            <a:r>
              <a:rPr lang="en-US" sz="1800" dirty="0">
                <a:latin typeface="Times New Roman"/>
                <a:ea typeface="Times New Roman"/>
                <a:cs typeface="Times New Roman"/>
                <a:sym typeface="Times New Roman"/>
              </a:rPr>
              <a:t>Manthan Gupta(2210991894)</a:t>
            </a:r>
          </a:p>
          <a:p>
            <a:pPr marL="0" marR="0" lvl="0" indent="0" algn="ctr" rtl="0">
              <a:lnSpc>
                <a:spcPct val="100000"/>
              </a:lnSpc>
              <a:spcBef>
                <a:spcPts val="400"/>
              </a:spcBef>
              <a:spcAft>
                <a:spcPts val="0"/>
              </a:spcAft>
              <a:buClr>
                <a:srgbClr val="000000"/>
              </a:buClr>
              <a:buSzPts val="1800"/>
              <a:buFont typeface="Arial"/>
              <a:buNone/>
            </a:pPr>
            <a:r>
              <a:rPr lang="en-IN" sz="1800" b="0" i="0" u="none" strike="noStrike" cap="none" dirty="0">
                <a:solidFill>
                  <a:srgbClr val="000000"/>
                </a:solidFill>
                <a:latin typeface="Times New Roman"/>
                <a:ea typeface="Times New Roman"/>
                <a:cs typeface="Times New Roman"/>
                <a:sym typeface="Times New Roman"/>
              </a:rPr>
              <a:t>Supervised by: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1800"/>
              <a:buFont typeface="Arial"/>
              <a:buNone/>
            </a:pPr>
            <a:r>
              <a:rPr lang="en-IN" sz="1800" dirty="0" err="1">
                <a:latin typeface="Times New Roman"/>
                <a:ea typeface="Times New Roman"/>
                <a:cs typeface="Times New Roman"/>
                <a:sym typeface="Times New Roman"/>
              </a:rPr>
              <a:t>Dr.Preeti</a:t>
            </a:r>
            <a:r>
              <a:rPr lang="en-IN" sz="1800" dirty="0">
                <a:latin typeface="Times New Roman"/>
                <a:ea typeface="Times New Roman"/>
                <a:cs typeface="Times New Roman"/>
                <a:sym typeface="Times New Roman"/>
              </a:rPr>
              <a:t> Saini</a:t>
            </a:r>
            <a:r>
              <a:rPr lang="en-IN" sz="1800" b="0" i="0" u="none" strike="noStrike" cap="none" dirty="0">
                <a:solidFill>
                  <a:srgbClr val="000000"/>
                </a:solidFill>
                <a:latin typeface="Times New Roman"/>
                <a:ea typeface="Times New Roman"/>
                <a:cs typeface="Times New Roman"/>
                <a:sym typeface="Times New Roman"/>
              </a:rPr>
              <a:t> </a:t>
            </a:r>
            <a:endParaRPr lang="en-IN" sz="1800" dirty="0">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1800"/>
              <a:buFont typeface="Arial"/>
              <a:buNone/>
            </a:pPr>
            <a:r>
              <a:rPr lang="en-IN" sz="2000" b="0" i="0" u="none" strike="noStrike" cap="none" dirty="0">
                <a:solidFill>
                  <a:schemeClr val="dk1"/>
                </a:solidFill>
                <a:latin typeface="Times New Roman"/>
                <a:ea typeface="Times New Roman"/>
                <a:cs typeface="Times New Roman"/>
                <a:sym typeface="Times New Roman"/>
              </a:rPr>
              <a:t>Department of Computer Science and Engineering,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2000"/>
              <a:buFont typeface="Arial"/>
              <a:buNone/>
            </a:pPr>
            <a:r>
              <a:rPr lang="en-IN" sz="2000" b="0" i="0" u="none" strike="noStrike" cap="none" dirty="0">
                <a:solidFill>
                  <a:schemeClr val="dk1"/>
                </a:solidFill>
                <a:latin typeface="Times New Roman"/>
                <a:ea typeface="Times New Roman"/>
                <a:cs typeface="Times New Roman"/>
                <a:sym typeface="Times New Roman"/>
              </a:rPr>
              <a:t>Chitkara University, Punjab</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DB6EA868-01E3-559F-5762-5602810732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a:t>
            </a:fld>
            <a:endParaRPr lang="en-IN"/>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3"/>
          <p:cNvSpPr txBox="1"/>
          <p:nvPr/>
        </p:nvSpPr>
        <p:spPr>
          <a:xfrm>
            <a:off x="354422" y="197745"/>
            <a:ext cx="54006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IN" sz="2800" b="1" i="0" dirty="0">
                <a:solidFill>
                  <a:srgbClr val="002D44"/>
                </a:solidFill>
                <a:effectLst/>
                <a:latin typeface="Times New Roman" panose="02020603050405020304" pitchFamily="18" charset="0"/>
                <a:cs typeface="Times New Roman" panose="02020603050405020304" pitchFamily="18" charset="0"/>
              </a:rPr>
              <a:t>Table of Contents</a:t>
            </a:r>
            <a:endParaRPr sz="28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Rectangle 1">
            <a:extLst>
              <a:ext uri="{FF2B5EF4-FFF2-40B4-BE49-F238E27FC236}">
                <a16:creationId xmlns:a16="http://schemas.microsoft.com/office/drawing/2014/main" id="{62354DBA-CC78-D143-9DBB-B98307EAB639}"/>
              </a:ext>
            </a:extLst>
          </p:cNvPr>
          <p:cNvSpPr>
            <a:spLocks noChangeArrowheads="1"/>
          </p:cNvSpPr>
          <p:nvPr/>
        </p:nvSpPr>
        <p:spPr bwMode="auto">
          <a:xfrm rot="10800000" flipV="1">
            <a:off x="354422" y="1485510"/>
            <a:ext cx="6198778"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Statement</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 / Purpose</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IN"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 Topics / Sections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Scope</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References (if applicable)</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Q&amp;A / Discussion </a:t>
            </a:r>
          </a:p>
        </p:txBody>
      </p:sp>
      <p:sp>
        <p:nvSpPr>
          <p:cNvPr id="3" name="Slide Number Placeholder 2">
            <a:extLst>
              <a:ext uri="{FF2B5EF4-FFF2-40B4-BE49-F238E27FC236}">
                <a16:creationId xmlns:a16="http://schemas.microsoft.com/office/drawing/2014/main" id="{39C89A3B-5285-AFD9-895C-B2E939E2F3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a:t>
            </a:fld>
            <a:endParaRPr lang="en-IN"/>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AC4D-FB3C-7F1F-B140-BBFE181A9992}"/>
              </a:ext>
            </a:extLst>
          </p:cNvPr>
          <p:cNvSpPr>
            <a:spLocks noGrp="1"/>
          </p:cNvSpPr>
          <p:nvPr>
            <p:ph type="ctrTitle"/>
          </p:nvPr>
        </p:nvSpPr>
        <p:spPr/>
        <p:txBody>
          <a:bodyPr/>
          <a:lstStyle/>
          <a:p>
            <a:r>
              <a:rPr lang="en-US" dirty="0"/>
              <a:t>PROBLEM STATEMENT</a:t>
            </a:r>
            <a:endParaRPr lang="en-IN" dirty="0"/>
          </a:p>
        </p:txBody>
      </p:sp>
      <p:sp>
        <p:nvSpPr>
          <p:cNvPr id="3" name="Subtitle 2">
            <a:extLst>
              <a:ext uri="{FF2B5EF4-FFF2-40B4-BE49-F238E27FC236}">
                <a16:creationId xmlns:a16="http://schemas.microsoft.com/office/drawing/2014/main" id="{0E7027E4-C42F-670C-17AF-76BBF89000AE}"/>
              </a:ext>
            </a:extLst>
          </p:cNvPr>
          <p:cNvSpPr>
            <a:spLocks noGrp="1"/>
          </p:cNvSpPr>
          <p:nvPr>
            <p:ph type="subTitle" idx="1"/>
          </p:nvPr>
        </p:nvSpPr>
        <p:spPr>
          <a:xfrm>
            <a:off x="190500" y="1096963"/>
            <a:ext cx="8763000" cy="5441949"/>
          </a:xfrm>
        </p:spPr>
        <p:txBody>
          <a:bodyPr/>
          <a:lstStyle/>
          <a:p>
            <a:pPr algn="l"/>
            <a:endParaRPr lang="en-US" sz="1600" b="0" i="0" dirty="0">
              <a:solidFill>
                <a:srgbClr val="374151"/>
              </a:solidFill>
              <a:effectLst/>
              <a:latin typeface="NEW ROMAN"/>
            </a:endParaRPr>
          </a:p>
          <a:p>
            <a:pPr algn="l"/>
            <a:endParaRPr lang="en-US" sz="2000" dirty="0"/>
          </a:p>
          <a:p>
            <a:pPr algn="l"/>
            <a:r>
              <a:rPr lang="en-US" sz="2000" dirty="0"/>
              <a:t>      Traditional hotel booking methods are often time-consuming, complex, and lack proper comparison features. Users face difficulties in finding hotels according to their budget, location, and preferred amenities. Many existing platforms have complicated interfaces and limited filtering options, which negatively affect user experience. Therefore, there is a need for a simple, efficient, and user-friendly hotel booking system.</a:t>
            </a:r>
          </a:p>
          <a:p>
            <a:pPr algn="l"/>
            <a:endParaRPr lang="en-IN" sz="1000" dirty="0"/>
          </a:p>
        </p:txBody>
      </p:sp>
      <p:sp>
        <p:nvSpPr>
          <p:cNvPr id="4" name="Slide Number Placeholder 3">
            <a:extLst>
              <a:ext uri="{FF2B5EF4-FFF2-40B4-BE49-F238E27FC236}">
                <a16:creationId xmlns:a16="http://schemas.microsoft.com/office/drawing/2014/main" id="{FA509519-2681-4C4C-FBAB-59E75647A1D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a:t>
            </a:fld>
            <a:endParaRPr lang="en-IN"/>
          </a:p>
        </p:txBody>
      </p:sp>
    </p:spTree>
    <p:extLst>
      <p:ext uri="{BB962C8B-B14F-4D97-AF65-F5344CB8AC3E}">
        <p14:creationId xmlns:p14="http://schemas.microsoft.com/office/powerpoint/2010/main" val="78617891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A9C93-1672-A071-6BFF-BE71E9636003}"/>
              </a:ext>
            </a:extLst>
          </p:cNvPr>
          <p:cNvSpPr>
            <a:spLocks noGrp="1"/>
          </p:cNvSpPr>
          <p:nvPr>
            <p:ph type="ctrTitle"/>
          </p:nvPr>
        </p:nvSpPr>
        <p:spPr/>
        <p:txBody>
          <a:bodyPr/>
          <a:lstStyle/>
          <a:p>
            <a:r>
              <a:rPr lang="en-US" dirty="0"/>
              <a:t>OBJECTIVES/PURPOSES</a:t>
            </a:r>
            <a:endParaRPr lang="en-IN" dirty="0"/>
          </a:p>
        </p:txBody>
      </p:sp>
      <p:sp>
        <p:nvSpPr>
          <p:cNvPr id="3" name="Subtitle 2">
            <a:extLst>
              <a:ext uri="{FF2B5EF4-FFF2-40B4-BE49-F238E27FC236}">
                <a16:creationId xmlns:a16="http://schemas.microsoft.com/office/drawing/2014/main" id="{852160D2-5632-C467-9E3C-8F366ADEEC33}"/>
              </a:ext>
            </a:extLst>
          </p:cNvPr>
          <p:cNvSpPr>
            <a:spLocks noGrp="1"/>
          </p:cNvSpPr>
          <p:nvPr>
            <p:ph type="subTitle" idx="1"/>
          </p:nvPr>
        </p:nvSpPr>
        <p:spPr>
          <a:xfrm>
            <a:off x="119513" y="1066800"/>
            <a:ext cx="8880108" cy="5468754"/>
          </a:xfrm>
        </p:spPr>
        <p:txBody>
          <a:bodyPr/>
          <a:lstStyle/>
          <a:p>
            <a:pPr algn="l"/>
            <a:r>
              <a:rPr lang="en-US" sz="1600" b="1" dirty="0"/>
              <a:t>The main objective of </a:t>
            </a:r>
            <a:r>
              <a:rPr lang="en-US" sz="1600" b="1" dirty="0" err="1"/>
              <a:t>BookMyHaven</a:t>
            </a:r>
            <a:r>
              <a:rPr lang="en-US" sz="1600" b="1" dirty="0"/>
              <a:t> is to develop a web-based hotel booking platform that allows users to:</a:t>
            </a:r>
          </a:p>
          <a:p>
            <a:pPr algn="l"/>
            <a:r>
              <a:rPr lang="en-US" sz="1600" b="1" dirty="0"/>
              <a:t>Search hotels based on location and travel dates </a:t>
            </a:r>
          </a:p>
          <a:p>
            <a:pPr algn="l"/>
            <a:r>
              <a:rPr lang="en-US" sz="1600" b="1" dirty="0"/>
              <a:t>Filter hotels by price, ratings, and amenities </a:t>
            </a:r>
          </a:p>
          <a:p>
            <a:pPr algn="l"/>
            <a:r>
              <a:rPr lang="en-US" sz="1600" b="1" dirty="0"/>
              <a:t>View detailed hotel information and images </a:t>
            </a:r>
          </a:p>
          <a:p>
            <a:pPr algn="l"/>
            <a:r>
              <a:rPr lang="en-US" sz="1600" b="1" dirty="0"/>
              <a:t>Experience a smooth and responsive user interface </a:t>
            </a:r>
          </a:p>
          <a:p>
            <a:pPr algn="l"/>
            <a:r>
              <a:rPr lang="en-US" sz="1600" b="1" dirty="0"/>
              <a:t>Securely sign up and log in </a:t>
            </a:r>
          </a:p>
          <a:p>
            <a:pPr algn="l"/>
            <a:r>
              <a:rPr lang="en-US" sz="1600" b="1" dirty="0"/>
              <a:t>Simplify the hotel booking process</a:t>
            </a:r>
          </a:p>
          <a:p>
            <a:pPr algn="l"/>
            <a:endParaRPr lang="en-IN" sz="1100" dirty="0"/>
          </a:p>
        </p:txBody>
      </p:sp>
      <p:sp>
        <p:nvSpPr>
          <p:cNvPr id="4" name="Slide Number Placeholder 3">
            <a:extLst>
              <a:ext uri="{FF2B5EF4-FFF2-40B4-BE49-F238E27FC236}">
                <a16:creationId xmlns:a16="http://schemas.microsoft.com/office/drawing/2014/main" id="{599677E0-EAE9-E63C-31C2-8C72668069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4</a:t>
            </a:fld>
            <a:endParaRPr lang="en-IN"/>
          </a:p>
        </p:txBody>
      </p:sp>
    </p:spTree>
    <p:extLst>
      <p:ext uri="{BB962C8B-B14F-4D97-AF65-F5344CB8AC3E}">
        <p14:creationId xmlns:p14="http://schemas.microsoft.com/office/powerpoint/2010/main" val="341551624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6CCA2-8AC6-AE10-66E9-FCC66FA5F2C6}"/>
              </a:ext>
            </a:extLst>
          </p:cNvPr>
          <p:cNvSpPr>
            <a:spLocks noGrp="1"/>
          </p:cNvSpPr>
          <p:nvPr>
            <p:ph type="ctrTitle"/>
          </p:nvPr>
        </p:nvSpPr>
        <p:spPr/>
        <p:txBody>
          <a:bodyPr/>
          <a:lstStyle/>
          <a:p>
            <a:r>
              <a:rPr lang="en-US" dirty="0"/>
              <a:t>MAIN TOPICS/SECTIONS</a:t>
            </a:r>
            <a:endParaRPr lang="en-IN" dirty="0"/>
          </a:p>
        </p:txBody>
      </p:sp>
      <p:sp>
        <p:nvSpPr>
          <p:cNvPr id="3" name="Subtitle 2">
            <a:extLst>
              <a:ext uri="{FF2B5EF4-FFF2-40B4-BE49-F238E27FC236}">
                <a16:creationId xmlns:a16="http://schemas.microsoft.com/office/drawing/2014/main" id="{7EAD15F4-5792-C90C-D447-408B3528DEBA}"/>
              </a:ext>
            </a:extLst>
          </p:cNvPr>
          <p:cNvSpPr>
            <a:spLocks noGrp="1"/>
          </p:cNvSpPr>
          <p:nvPr>
            <p:ph type="subTitle" idx="1"/>
          </p:nvPr>
        </p:nvSpPr>
        <p:spPr>
          <a:xfrm>
            <a:off x="152400" y="914401"/>
            <a:ext cx="8837596" cy="6455228"/>
          </a:xfrm>
        </p:spPr>
        <p:txBody>
          <a:bodyPr/>
          <a:lstStyle/>
          <a:p>
            <a:pPr algn="l"/>
            <a:r>
              <a:rPr lang="en-IN" sz="1600" b="1" dirty="0"/>
              <a:t>1. Introduction</a:t>
            </a:r>
          </a:p>
          <a:p>
            <a:pPr algn="l"/>
            <a:r>
              <a:rPr lang="en-IN" sz="1600" dirty="0"/>
              <a:t>Overview of </a:t>
            </a:r>
            <a:r>
              <a:rPr lang="en-IN" sz="1600" dirty="0" err="1"/>
              <a:t>BookMyHaven</a:t>
            </a:r>
            <a:r>
              <a:rPr lang="en-IN" sz="1600" dirty="0"/>
              <a:t> </a:t>
            </a:r>
          </a:p>
          <a:p>
            <a:pPr algn="l"/>
            <a:r>
              <a:rPr lang="en-IN" sz="1600" dirty="0"/>
              <a:t>Need for online hotel booking systems </a:t>
            </a:r>
          </a:p>
          <a:p>
            <a:pPr algn="l"/>
            <a:r>
              <a:rPr lang="en-IN" sz="1600" b="1" dirty="0"/>
              <a:t>2. Problem Statement</a:t>
            </a:r>
          </a:p>
          <a:p>
            <a:pPr algn="l"/>
            <a:r>
              <a:rPr lang="en-IN" sz="1600" dirty="0"/>
              <a:t>Challenges in traditional booking systems </a:t>
            </a:r>
          </a:p>
          <a:p>
            <a:pPr algn="l"/>
            <a:r>
              <a:rPr lang="en-IN" sz="1600" dirty="0"/>
              <a:t>Need for centralized hotel information </a:t>
            </a:r>
          </a:p>
          <a:p>
            <a:pPr algn="l"/>
            <a:r>
              <a:rPr lang="en-IN" sz="1600" b="1" dirty="0"/>
              <a:t>3. Methodology</a:t>
            </a:r>
          </a:p>
          <a:p>
            <a:pPr algn="l"/>
            <a:r>
              <a:rPr lang="en-IN" sz="1600" dirty="0"/>
              <a:t>Requirement analysis </a:t>
            </a:r>
          </a:p>
          <a:p>
            <a:pPr algn="l"/>
            <a:r>
              <a:rPr lang="en-IN" sz="1600" dirty="0"/>
              <a:t>System design </a:t>
            </a:r>
          </a:p>
          <a:p>
            <a:pPr algn="l"/>
            <a:r>
              <a:rPr lang="en-IN" sz="1600" dirty="0"/>
              <a:t>Development process </a:t>
            </a:r>
          </a:p>
          <a:p>
            <a:pPr algn="l"/>
            <a:r>
              <a:rPr lang="en-IN" sz="1600" b="1" dirty="0"/>
              <a:t>4. Tools and Technologies</a:t>
            </a:r>
          </a:p>
          <a:p>
            <a:pPr algn="l"/>
            <a:r>
              <a:rPr lang="en-IN" sz="1600" dirty="0"/>
              <a:t>React.js </a:t>
            </a:r>
          </a:p>
          <a:p>
            <a:pPr algn="l"/>
            <a:r>
              <a:rPr lang="en-IN" sz="1600" dirty="0"/>
              <a:t>Node.js </a:t>
            </a:r>
          </a:p>
          <a:p>
            <a:pPr algn="l"/>
            <a:r>
              <a:rPr lang="en-IN" sz="1600" dirty="0"/>
              <a:t>Express.js </a:t>
            </a:r>
          </a:p>
          <a:p>
            <a:pPr algn="l"/>
            <a:r>
              <a:rPr lang="en-IN" sz="1600" dirty="0"/>
              <a:t>MongoDB </a:t>
            </a:r>
          </a:p>
          <a:p>
            <a:pPr algn="l"/>
            <a:r>
              <a:rPr lang="en-IN" sz="1600" dirty="0"/>
              <a:t>GitHub and VS Code</a:t>
            </a:r>
          </a:p>
        </p:txBody>
      </p:sp>
      <p:sp>
        <p:nvSpPr>
          <p:cNvPr id="4" name="Slide Number Placeholder 3">
            <a:extLst>
              <a:ext uri="{FF2B5EF4-FFF2-40B4-BE49-F238E27FC236}">
                <a16:creationId xmlns:a16="http://schemas.microsoft.com/office/drawing/2014/main" id="{348B3A87-3D6C-9ACE-539C-FD0895D4CD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5</a:t>
            </a:fld>
            <a:endParaRPr lang="en-IN"/>
          </a:p>
        </p:txBody>
      </p:sp>
    </p:spTree>
    <p:extLst>
      <p:ext uri="{BB962C8B-B14F-4D97-AF65-F5344CB8AC3E}">
        <p14:creationId xmlns:p14="http://schemas.microsoft.com/office/powerpoint/2010/main" val="377453630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7CAB4-00B2-5869-4AF6-890C2F4A9051}"/>
              </a:ext>
            </a:extLst>
          </p:cNvPr>
          <p:cNvSpPr>
            <a:spLocks noGrp="1"/>
          </p:cNvSpPr>
          <p:nvPr>
            <p:ph type="ctrTitle"/>
          </p:nvPr>
        </p:nvSpPr>
        <p:spPr/>
        <p:txBody>
          <a:bodyPr/>
          <a:lstStyle/>
          <a:p>
            <a:r>
              <a:rPr lang="en-US" dirty="0"/>
              <a:t>CONCLUSION</a:t>
            </a:r>
            <a:endParaRPr lang="en-IN" dirty="0"/>
          </a:p>
        </p:txBody>
      </p:sp>
      <p:sp>
        <p:nvSpPr>
          <p:cNvPr id="4" name="Slide Number Placeholder 3">
            <a:extLst>
              <a:ext uri="{FF2B5EF4-FFF2-40B4-BE49-F238E27FC236}">
                <a16:creationId xmlns:a16="http://schemas.microsoft.com/office/drawing/2014/main" id="{E074B47B-0261-2073-0B6B-9573797595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6</a:t>
            </a:fld>
            <a:endParaRPr lang="en-IN"/>
          </a:p>
        </p:txBody>
      </p:sp>
      <p:sp>
        <p:nvSpPr>
          <p:cNvPr id="5" name="Rectangle 1">
            <a:extLst>
              <a:ext uri="{FF2B5EF4-FFF2-40B4-BE49-F238E27FC236}">
                <a16:creationId xmlns:a16="http://schemas.microsoft.com/office/drawing/2014/main" id="{5F68A425-2AFD-394E-6468-2A22844FA9B9}"/>
              </a:ext>
            </a:extLst>
          </p:cNvPr>
          <p:cNvSpPr>
            <a:spLocks noGrp="1" noChangeArrowheads="1"/>
          </p:cNvSpPr>
          <p:nvPr>
            <p:ph type="subTitle" idx="1"/>
          </p:nvPr>
        </p:nvSpPr>
        <p:spPr bwMode="auto">
          <a:xfrm>
            <a:off x="334297" y="1557008"/>
            <a:ext cx="844468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ClrTx/>
              <a:buSzTx/>
            </a:pPr>
            <a:r>
              <a:rPr lang="en-US" sz="1800" dirty="0" err="1"/>
              <a:t>BookMyHaven</a:t>
            </a:r>
            <a:r>
              <a:rPr lang="en-US" sz="1800" dirty="0"/>
              <a:t> successfully provides a modern and user-friendly hotel booking platform that simplifies hotel searching and reservation processes. The project improves user experience through advanced filtering, responsive design, and secure authentication. By using modern web technologies, the system ensures scalability, efficiency, and reliability for real-world deployment.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398801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842A0-02B8-5750-436A-A0B1DD60131E}"/>
              </a:ext>
            </a:extLst>
          </p:cNvPr>
          <p:cNvSpPr>
            <a:spLocks noGrp="1"/>
          </p:cNvSpPr>
          <p:nvPr>
            <p:ph type="ctrTitle"/>
          </p:nvPr>
        </p:nvSpPr>
        <p:spPr/>
        <p:txBody>
          <a:bodyPr/>
          <a:lstStyle/>
          <a:p>
            <a:r>
              <a:rPr lang="en-US" dirty="0"/>
              <a:t>REFERENCES</a:t>
            </a:r>
            <a:endParaRPr lang="en-IN" dirty="0"/>
          </a:p>
        </p:txBody>
      </p:sp>
      <p:sp>
        <p:nvSpPr>
          <p:cNvPr id="3" name="Subtitle 2">
            <a:extLst>
              <a:ext uri="{FF2B5EF4-FFF2-40B4-BE49-F238E27FC236}">
                <a16:creationId xmlns:a16="http://schemas.microsoft.com/office/drawing/2014/main" id="{6961E4D5-8393-EDFD-BB7E-3E7A47E90579}"/>
              </a:ext>
            </a:extLst>
          </p:cNvPr>
          <p:cNvSpPr>
            <a:spLocks noGrp="1"/>
          </p:cNvSpPr>
          <p:nvPr>
            <p:ph type="subTitle" idx="1"/>
          </p:nvPr>
        </p:nvSpPr>
        <p:spPr/>
        <p:txBody>
          <a:bodyPr/>
          <a:lstStyle/>
          <a:p>
            <a:pPr algn="l"/>
            <a:r>
              <a:rPr lang="en-IN" sz="1600" dirty="0"/>
              <a:t>React.js Official Documentation. Retrieved from </a:t>
            </a:r>
            <a:r>
              <a:rPr lang="en-IN" sz="1600" dirty="0">
                <a:hlinkClick r:id="rId2"/>
              </a:rPr>
              <a:t>https://react.dev</a:t>
            </a:r>
            <a:r>
              <a:rPr lang="en-IN" sz="1600" dirty="0"/>
              <a:t> </a:t>
            </a:r>
          </a:p>
          <a:p>
            <a:pPr algn="l"/>
            <a:r>
              <a:rPr lang="en-IN" sz="1600" dirty="0"/>
              <a:t>Node.js Documentation. Retrieved from </a:t>
            </a:r>
            <a:r>
              <a:rPr lang="en-IN" sz="1600" dirty="0">
                <a:hlinkClick r:id="rId3"/>
              </a:rPr>
              <a:t>https://nodejs.org</a:t>
            </a:r>
            <a:r>
              <a:rPr lang="en-IN" sz="1600" dirty="0"/>
              <a:t> </a:t>
            </a:r>
          </a:p>
          <a:p>
            <a:pPr algn="l"/>
            <a:r>
              <a:rPr lang="en-IN" sz="1600" dirty="0"/>
              <a:t>Express.js Documentation. Retrieved from </a:t>
            </a:r>
            <a:r>
              <a:rPr lang="en-IN" sz="1600" dirty="0">
                <a:hlinkClick r:id="rId4"/>
              </a:rPr>
              <a:t>https://expressjs.com</a:t>
            </a:r>
            <a:r>
              <a:rPr lang="en-IN" sz="1600" dirty="0"/>
              <a:t> </a:t>
            </a:r>
          </a:p>
          <a:p>
            <a:pPr algn="l"/>
            <a:r>
              <a:rPr lang="en-IN" sz="1600" dirty="0"/>
              <a:t>MongoDB Documentation. Retrieved from </a:t>
            </a:r>
            <a:r>
              <a:rPr lang="en-IN" sz="1600" dirty="0">
                <a:hlinkClick r:id="rId5"/>
              </a:rPr>
              <a:t>https://www.mongodb.com</a:t>
            </a:r>
            <a:r>
              <a:rPr lang="en-IN" sz="1600" dirty="0"/>
              <a:t> </a:t>
            </a:r>
          </a:p>
          <a:p>
            <a:pPr algn="l"/>
            <a:r>
              <a:rPr lang="en-IN" sz="1600" dirty="0"/>
              <a:t>Tailwind CSS Documentation. Retrieved from </a:t>
            </a:r>
            <a:r>
              <a:rPr lang="en-IN" sz="1600" dirty="0">
                <a:hlinkClick r:id="rId6"/>
              </a:rPr>
              <a:t>https://tailwindcss.com</a:t>
            </a:r>
            <a:r>
              <a:rPr lang="en-IN" sz="1600" dirty="0"/>
              <a:t> </a:t>
            </a:r>
          </a:p>
          <a:p>
            <a:pPr algn="l"/>
            <a:r>
              <a:rPr lang="en-IN" sz="1600" dirty="0"/>
              <a:t>GitHub Documentation. Retrieved from </a:t>
            </a:r>
            <a:r>
              <a:rPr lang="en-IN" sz="1600" dirty="0">
                <a:hlinkClick r:id="rId7"/>
              </a:rPr>
              <a:t>https://docs.github.com</a:t>
            </a:r>
            <a:r>
              <a:rPr lang="en-IN" sz="1600" dirty="0"/>
              <a:t> </a:t>
            </a:r>
          </a:p>
          <a:p>
            <a:pPr algn="l"/>
            <a:r>
              <a:rPr lang="en-IN" sz="1600" dirty="0"/>
              <a:t>Mozilla Developer Network (MDN) Web Docs. Retrieved from </a:t>
            </a:r>
            <a:r>
              <a:rPr lang="en-IN" sz="1600" dirty="0">
                <a:hlinkClick r:id="rId8"/>
              </a:rPr>
              <a:t>https://developer.mozilla.org</a:t>
            </a:r>
            <a:r>
              <a:rPr lang="en-IN" sz="1600" dirty="0"/>
              <a:t> </a:t>
            </a:r>
          </a:p>
          <a:p>
            <a:pPr algn="l"/>
            <a:r>
              <a:rPr lang="en-IN" sz="1600" dirty="0"/>
              <a:t>W3Schools Web Development Tutorials. Retrieved from </a:t>
            </a:r>
            <a:r>
              <a:rPr lang="en-IN" sz="1600" dirty="0">
                <a:hlinkClick r:id="rId9"/>
              </a:rPr>
              <a:t>https://www.w3schools.com</a:t>
            </a:r>
            <a:r>
              <a:rPr lang="en-IN" sz="1600" dirty="0"/>
              <a:t> </a:t>
            </a:r>
          </a:p>
          <a:p>
            <a:pPr algn="l"/>
            <a:r>
              <a:rPr lang="en-IN" sz="1600" dirty="0"/>
              <a:t>Vite Official Documentation. Retrieved from </a:t>
            </a:r>
            <a:r>
              <a:rPr lang="en-IN" sz="1600" dirty="0">
                <a:hlinkClick r:id="rId10"/>
              </a:rPr>
              <a:t>https://vitejs.dev</a:t>
            </a:r>
            <a:r>
              <a:rPr lang="en-IN" sz="1600" dirty="0"/>
              <a:t> </a:t>
            </a:r>
          </a:p>
          <a:p>
            <a:pPr algn="l"/>
            <a:r>
              <a:rPr lang="en-IN" sz="1600" dirty="0"/>
              <a:t>Google Fonts and UI Resources. Retrieved from </a:t>
            </a:r>
            <a:r>
              <a:rPr lang="en-IN" sz="1600" dirty="0">
                <a:hlinkClick r:id="rId11"/>
              </a:rPr>
              <a:t>https://fonts.google.com</a:t>
            </a:r>
            <a:r>
              <a:rPr lang="en-IN" sz="1600" dirty="0"/>
              <a:t> </a:t>
            </a:r>
          </a:p>
          <a:p>
            <a:pPr algn="l"/>
            <a:endParaRPr lang="en-IN" sz="1600" dirty="0">
              <a:latin typeface="NEW ROMAN"/>
            </a:endParaRPr>
          </a:p>
        </p:txBody>
      </p:sp>
      <p:sp>
        <p:nvSpPr>
          <p:cNvPr id="4" name="Slide Number Placeholder 3">
            <a:extLst>
              <a:ext uri="{FF2B5EF4-FFF2-40B4-BE49-F238E27FC236}">
                <a16:creationId xmlns:a16="http://schemas.microsoft.com/office/drawing/2014/main" id="{D1D553CF-E330-00B7-C7A6-0B1C8CB97BE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7</a:t>
            </a:fld>
            <a:endParaRPr lang="en-IN"/>
          </a:p>
        </p:txBody>
      </p:sp>
    </p:spTree>
    <p:extLst>
      <p:ext uri="{BB962C8B-B14F-4D97-AF65-F5344CB8AC3E}">
        <p14:creationId xmlns:p14="http://schemas.microsoft.com/office/powerpoint/2010/main" val="414822132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B2FE2-EA24-69B6-F0C7-2888D1E339E9}"/>
              </a:ext>
            </a:extLst>
          </p:cNvPr>
          <p:cNvSpPr>
            <a:spLocks noGrp="1"/>
          </p:cNvSpPr>
          <p:nvPr>
            <p:ph type="ctrTitle"/>
          </p:nvPr>
        </p:nvSpPr>
        <p:spPr/>
        <p:txBody>
          <a:bodyPr/>
          <a:lstStyle/>
          <a:p>
            <a:r>
              <a:rPr lang="en-US" dirty="0"/>
              <a:t>Q&amp;A/DISCUSSION</a:t>
            </a:r>
            <a:endParaRPr lang="en-IN" dirty="0"/>
          </a:p>
        </p:txBody>
      </p:sp>
      <p:sp>
        <p:nvSpPr>
          <p:cNvPr id="3" name="Subtitle 2">
            <a:extLst>
              <a:ext uri="{FF2B5EF4-FFF2-40B4-BE49-F238E27FC236}">
                <a16:creationId xmlns:a16="http://schemas.microsoft.com/office/drawing/2014/main" id="{60DCD68F-813B-4CCC-98D7-D1F6A473FE5F}"/>
              </a:ext>
            </a:extLst>
          </p:cNvPr>
          <p:cNvSpPr>
            <a:spLocks noGrp="1"/>
          </p:cNvSpPr>
          <p:nvPr>
            <p:ph type="subTitle" idx="1"/>
          </p:nvPr>
        </p:nvSpPr>
        <p:spPr>
          <a:xfrm>
            <a:off x="115502" y="914401"/>
            <a:ext cx="8855243" cy="5181599"/>
          </a:xfrm>
        </p:spPr>
        <p:txBody>
          <a:bodyPr/>
          <a:lstStyle/>
          <a:p>
            <a:pPr algn="l"/>
            <a:r>
              <a:rPr lang="en-US" sz="1600" b="1" dirty="0"/>
              <a:t>Q1. What are the key benefits of implementing </a:t>
            </a:r>
            <a:r>
              <a:rPr lang="en-US" sz="1600" b="1" dirty="0" err="1"/>
              <a:t>BookMyHaven</a:t>
            </a:r>
            <a:r>
              <a:rPr lang="en-US" sz="1600" b="1" dirty="0"/>
              <a:t>?</a:t>
            </a:r>
          </a:p>
          <a:p>
            <a:pPr algn="l"/>
            <a:r>
              <a:rPr lang="en-US" sz="1600" dirty="0" err="1"/>
              <a:t>BookMyHaven</a:t>
            </a:r>
            <a:r>
              <a:rPr lang="en-US" sz="1600" dirty="0"/>
              <a:t> simplifies hotel booking by providing easy hotel search, advanced filtering, secure authentication, responsive design, and detailed hotel information, improving overall user experience.</a:t>
            </a:r>
          </a:p>
          <a:p>
            <a:pPr algn="l"/>
            <a:r>
              <a:rPr lang="en-US" sz="1600" b="1" dirty="0"/>
              <a:t>Q2. How does </a:t>
            </a:r>
            <a:r>
              <a:rPr lang="en-US" sz="1600" b="1" dirty="0" err="1"/>
              <a:t>BookMyHaven</a:t>
            </a:r>
            <a:r>
              <a:rPr lang="en-US" sz="1600" b="1" dirty="0"/>
              <a:t> ensure data security?</a:t>
            </a:r>
          </a:p>
          <a:p>
            <a:pPr algn="l"/>
            <a:r>
              <a:rPr lang="en-US" sz="1600" dirty="0"/>
              <a:t>The platform uses secure authentication, protected database connections, and proper access controls to keep user information safe and confidential.</a:t>
            </a:r>
          </a:p>
          <a:p>
            <a:pPr algn="l"/>
            <a:r>
              <a:rPr lang="en-US" sz="1600" b="1" dirty="0"/>
              <a:t>Q3. What challenges were faced during development?</a:t>
            </a:r>
          </a:p>
          <a:p>
            <a:pPr algn="l"/>
            <a:r>
              <a:rPr lang="en-US" sz="1600" dirty="0"/>
              <a:t>Some challenges included database integration, responsive UI design, authentication handling, and managing dynamic hotel data efficiently.</a:t>
            </a:r>
          </a:p>
          <a:p>
            <a:pPr algn="l"/>
            <a:endParaRPr lang="en-US" sz="1600" b="0" i="0" dirty="0">
              <a:solidFill>
                <a:srgbClr val="374151"/>
              </a:solidFill>
              <a:effectLst/>
              <a:latin typeface="__Inter_d65c78"/>
            </a:endParaRPr>
          </a:p>
        </p:txBody>
      </p:sp>
      <p:sp>
        <p:nvSpPr>
          <p:cNvPr id="4" name="Slide Number Placeholder 3">
            <a:extLst>
              <a:ext uri="{FF2B5EF4-FFF2-40B4-BE49-F238E27FC236}">
                <a16:creationId xmlns:a16="http://schemas.microsoft.com/office/drawing/2014/main" id="{CA758441-9F55-0CA1-5CC2-0880D1F416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8</a:t>
            </a:fld>
            <a:endParaRPr lang="en-IN"/>
          </a:p>
        </p:txBody>
      </p:sp>
    </p:spTree>
    <p:extLst>
      <p:ext uri="{BB962C8B-B14F-4D97-AF65-F5344CB8AC3E}">
        <p14:creationId xmlns:p14="http://schemas.microsoft.com/office/powerpoint/2010/main" val="107307607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heme/theme1.xml><?xml version="1.0" encoding="utf-8"?>
<a:theme xmlns:a="http://schemas.openxmlformats.org/drawingml/2006/main" name="Bubble Sor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560</Words>
  <Application>Microsoft Office PowerPoint</Application>
  <PresentationFormat>On-screen Show (4:3)</PresentationFormat>
  <Paragraphs>76</Paragraphs>
  <Slides>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__Inter_d65c78</vt:lpstr>
      <vt:lpstr>Arial</vt:lpstr>
      <vt:lpstr>Calibri</vt:lpstr>
      <vt:lpstr>NEW ROMAN</vt:lpstr>
      <vt:lpstr>Times New Roman</vt:lpstr>
      <vt:lpstr>Bubble Sort</vt:lpstr>
      <vt:lpstr>PowerPoint Presentation</vt:lpstr>
      <vt:lpstr>PowerPoint Presentation</vt:lpstr>
      <vt:lpstr>PROBLEM STATEMENT</vt:lpstr>
      <vt:lpstr>OBJECTIVES/PURPOSES</vt:lpstr>
      <vt:lpstr>MAIN TOPICS/SECTIONS</vt:lpstr>
      <vt:lpstr>CONCLUSION</vt:lpstr>
      <vt:lpstr>REFERENCES</vt:lpstr>
      <vt:lpstr>Q&amp;A/DISCUSSION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Arushi Gupta</dc:creator>
  <cp:lastModifiedBy>Lakshya Puri</cp:lastModifiedBy>
  <cp:revision>17</cp:revision>
  <dcterms:modified xsi:type="dcterms:W3CDTF">2026-05-08T18:11:01Z</dcterms:modified>
</cp:coreProperties>
</file>